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" y="-502920"/>
            <a:ext cx="2651760" cy="2651760"/>
          </a:xfrm>
          <a:prstGeom prst="ellipse">
            <a:avLst/>
          </a:prstGeom>
          <a:solidFill>
            <a:srgbClr val="D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365760"/>
            <a:ext cx="1920240" cy="1920240"/>
          </a:xfrm>
          <a:prstGeom prst="ellipse">
            <a:avLst/>
          </a:prstGeom>
          <a:solidFill>
            <a:srgbClr val="F2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C82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80467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 Display"/>
              </a:rPr>
              <a:t>From Public ED Data To Southlake Future-State Planning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7184"/>
                </a:solidFill>
                <a:latin typeface="Aptos"/>
              </a:rPr>
              <a:t>Agentic synthetic data workflow for distributed-health-network planning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84048"/>
            <a:ext cx="731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A7184"/>
                </a:solidFill>
                <a:latin typeface="Aptos"/>
              </a:rPr>
              <a:t>1/3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93392"/>
            <a:ext cx="416052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7C82"/>
                </a:solidFill>
                <a:latin typeface="Aptos"/>
              </a:rPr>
              <a:t>Core Message</a:t>
            </a:r>
          </a:p>
          <a:p>
            <a:pPr>
              <a:spcAft>
                <a:spcPts val="1200"/>
              </a:spcAft>
              <a:defRPr sz="1700" b="1">
                <a:solidFill>
                  <a:srgbClr val="102A43"/>
                </a:solidFill>
                <a:latin typeface="Aptos"/>
              </a:defRPr>
            </a:pPr>
            <a:r>
              <a:t>We turn safe public ED data into synthetic planning artifacts for Southlake's distributed-health-network questions, then make the limitations visible before anyone over-trusts the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712463"/>
            <a:ext cx="2029968" cy="1170432"/>
          </a:xfrm>
          <a:prstGeom prst="roundRect">
            <a:avLst/>
          </a:prstGeom>
          <a:solidFill>
            <a:srgbClr val="D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96149"/>
                </a:solidFill>
                <a:latin typeface="Aptos"/>
              </a:rPr>
              <a:t>Input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100">
                <a:solidFill>
                  <a:srgbClr val="102A43"/>
                </a:solidFill>
                <a:latin typeface="Aptos"/>
              </a:defRPr>
            </a:pPr>
            <a:r>
              <a:t>Curated public ED dataset used as a safe planning stand-in.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3712463"/>
            <a:ext cx="20299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Agent Flow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100">
                <a:solidFill>
                  <a:srgbClr val="102A43"/>
                </a:solidFill>
                <a:latin typeface="Aptos"/>
              </a:defRPr>
            </a:pPr>
            <a:r>
              <a:t>Goal framing -&gt; profile -&gt; plan -&gt; generate -&gt; evaluate -&gt; caution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029200"/>
            <a:ext cx="2029968" cy="1170432"/>
          </a:xfrm>
          <a:prstGeom prst="roundRect">
            <a:avLst/>
          </a:prstGeom>
          <a:solidFill>
            <a:srgbClr val="F2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A5200"/>
                </a:solidFill>
                <a:latin typeface="Aptos"/>
              </a:rPr>
              <a:t>Southlake Lens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100">
                <a:solidFill>
                  <a:srgbClr val="102A43"/>
                </a:solidFill>
                <a:latin typeface="Aptos"/>
              </a:defRPr>
            </a:pPr>
            <a:r>
              <a:t>Distributed campus routing, community diversion, growth, and surge scenarios.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5029200"/>
            <a:ext cx="20299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Outputs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1100">
                <a:solidFill>
                  <a:srgbClr val="102A43"/>
                </a:solidFill>
                <a:latin typeface="Aptos"/>
              </a:defRPr>
            </a:pPr>
            <a:r>
              <a:t>Synthetic dataset, metrics dashboard, caution summary, export ZIP, pitch artifacts.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0912" y="1847088"/>
            <a:ext cx="6629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rchitecture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2066543"/>
            <a:ext cx="6217920" cy="349300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10912" y="5687568"/>
            <a:ext cx="66294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Planning questions: campus routing | observation demand | transfer pathways | closer-to-home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19088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7184"/>
                </a:solidFill>
                <a:latin typeface="Aptos"/>
              </a:rPr>
              <a:t>Message for judges: the product is not only about generating rows; it is about making synthetic planning data usable and governed.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" y="-502920"/>
            <a:ext cx="2651760" cy="2651760"/>
          </a:xfrm>
          <a:prstGeom prst="ellipse">
            <a:avLst/>
          </a:prstGeom>
          <a:solidFill>
            <a:srgbClr val="D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365760"/>
            <a:ext cx="1920240" cy="1920240"/>
          </a:xfrm>
          <a:prstGeom prst="ellipse">
            <a:avLst/>
          </a:prstGeom>
          <a:solidFill>
            <a:srgbClr val="F2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C82"/>
                </a:solidFill>
                <a:latin typeface="Aptos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80467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 Display"/>
              </a:rPr>
              <a:t>What The Studio Actually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8138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7184"/>
                </a:solidFill>
                <a:latin typeface="Aptos"/>
              </a:rPr>
              <a:t>Saved demo reliability, visible evaluation, and exportable artifacts for innovation teams.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84048"/>
            <a:ext cx="731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A7184"/>
                </a:solidFill>
                <a:latin typeface="Aptos"/>
              </a:rPr>
              <a:t>2/3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6583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un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65376"/>
            <a:ext cx="6181344" cy="412394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96112" y="1755648"/>
            <a:ext cx="1316736" cy="310896"/>
          </a:xfrm>
          <a:prstGeom prst="roundRect">
            <a:avLst/>
          </a:prstGeom>
          <a:solidFill>
            <a:srgbClr val="D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6149"/>
                </a:solidFill>
                <a:latin typeface="Aptos"/>
              </a:rPr>
              <a:t>Saved demo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2" y="1755648"/>
            <a:ext cx="1316736" cy="310896"/>
          </a:xfrm>
          <a:prstGeom prst="roundRect">
            <a:avLst/>
          </a:prstGeom>
          <a:solidFill>
            <a:srgbClr val="F2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7A5200"/>
                </a:solidFill>
                <a:latin typeface="Aptos"/>
              </a:rPr>
              <a:t>Scenario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86784" y="1755648"/>
            <a:ext cx="1316736" cy="310896"/>
          </a:xfrm>
          <a:prstGeom prst="roundRect">
            <a:avLst/>
          </a:prstGeom>
          <a:solidFill>
            <a:srgbClr val="E7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C82"/>
                </a:solidFill>
                <a:latin typeface="Aptos"/>
              </a:rPr>
              <a:t>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56632" y="5687568"/>
            <a:ext cx="1316736" cy="310896"/>
          </a:xfrm>
          <a:prstGeom prst="roundRect">
            <a:avLst/>
          </a:prstGeom>
          <a:solidFill>
            <a:srgbClr val="FF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9A3412"/>
                </a:solidFill>
                <a:latin typeface="Aptos"/>
              </a:rPr>
              <a:t>Pitch + cautions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755648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C82"/>
                </a:solidFill>
                <a:latin typeface="Aptos"/>
              </a:rPr>
              <a:t>Feature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011680"/>
            <a:ext cx="3657600" cy="2240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02A43"/>
                </a:solidFill>
                <a:latin typeface="Aptos"/>
              </a:defRPr>
            </a:pPr>
            <a:r>
              <a:t>Southlake-specific scenarios aligned to distributed-network planning needs</a:t>
            </a:r>
          </a:p>
          <a:p>
            <a:pPr>
              <a:spcAft>
                <a:spcPts val="1000"/>
              </a:spcAft>
              <a:defRPr sz="1400">
                <a:solidFill>
                  <a:srgbClr val="102A43"/>
                </a:solidFill>
                <a:latin typeface="Aptos"/>
              </a:defRPr>
            </a:pPr>
            <a:r>
              <a:t>One-click saved demo runs plus optional fresh synthesis or CSV upload</a:t>
            </a:r>
          </a:p>
          <a:p>
            <a:pPr>
              <a:spcAft>
                <a:spcPts val="1000"/>
              </a:spcAft>
              <a:defRPr sz="1400">
                <a:solidFill>
                  <a:srgbClr val="102A43"/>
                </a:solidFill>
                <a:latin typeface="Aptos"/>
              </a:defRPr>
            </a:pPr>
            <a:r>
              <a:t>Visible fidelity, privacy, and utility metrics in one screen</a:t>
            </a:r>
          </a:p>
          <a:p>
            <a:pPr>
              <a:spcAft>
                <a:spcPts val="1000"/>
              </a:spcAft>
              <a:defRPr sz="1400">
                <a:solidFill>
                  <a:srgbClr val="102A43"/>
                </a:solidFill>
                <a:latin typeface="Aptos"/>
              </a:defRPr>
            </a:pPr>
            <a:r>
              <a:t>Auto-generated methodology, features, and cautions for pitch preparation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498848"/>
            <a:ext cx="3657600" cy="138988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100" b="1">
                <a:solidFill>
                  <a:srgbClr val="AEEFD7"/>
                </a:solidFill>
                <a:latin typeface="Aptos"/>
              </a:rPr>
              <a:t>Primary saved run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Distributed Campus Routing | run 72c9c81912</a:t>
            </a:r>
          </a:p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Fidelity 81.54   Privacy 100.0   Utility 88.92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7184"/>
                </a:solidFill>
                <a:latin typeface="Aptos"/>
              </a:rPr>
              <a:t>Pitch note: judges can see both the data product and the explanation product, with a reliable saved-run path if live generation is slow.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" y="-502920"/>
            <a:ext cx="2651760" cy="2651760"/>
          </a:xfrm>
          <a:prstGeom prst="ellipse">
            <a:avLst/>
          </a:prstGeom>
          <a:solidFill>
            <a:srgbClr val="D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365760"/>
            <a:ext cx="1920240" cy="1920240"/>
          </a:xfrm>
          <a:prstGeom prst="ellipse">
            <a:avLst/>
          </a:prstGeom>
          <a:solidFill>
            <a:srgbClr val="F2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C82"/>
                </a:solidFill>
                <a:latin typeface="Aptos"/>
              </a:rPr>
              <a:t>CAUTIONS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8046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2A43"/>
                </a:solidFill>
                <a:latin typeface="Aptos Display"/>
              </a:rPr>
              <a:t>What The Studio Is Safe For, And What It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8138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7184"/>
                </a:solidFill>
                <a:latin typeface="Aptos"/>
              </a:rPr>
              <a:t>Synthetic data is useful for planning and experimentation, but it is not local operational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84048"/>
            <a:ext cx="731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A7184"/>
                </a:solidFill>
                <a:latin typeface="Aptos"/>
              </a:rPr>
              <a:t>3/3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93392"/>
            <a:ext cx="5358384" cy="4151376"/>
          </a:xfrm>
          <a:prstGeom prst="roundRect">
            <a:avLst/>
          </a:prstGeom>
          <a:solidFill>
            <a:srgbClr val="D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96149"/>
                </a:solidFill>
                <a:latin typeface="Aptos Display"/>
              </a:rPr>
              <a:t>Good For</a:t>
            </a:r>
          </a:p>
          <a:p>
            <a:pPr>
              <a:spcAft>
                <a:spcPts val="10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Planning, innovation, and prototyping conversations</a:t>
            </a:r>
          </a:p>
          <a:p>
            <a:pPr>
              <a:spcAft>
                <a:spcPts val="10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Scenario workshops about distributed-campus routing and community diversion</a:t>
            </a:r>
          </a:p>
          <a:p>
            <a:pPr>
              <a:spcAft>
                <a:spcPts val="10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Testing dashboards, workflows, and early-stage analytics without real patient records</a:t>
            </a:r>
          </a:p>
          <a:p>
            <a:pPr>
              <a:spcAft>
                <a:spcPts val="10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Pitch-day storytelling backed by metrics, cautions, and exportable artifacts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993392"/>
            <a:ext cx="5468112" cy="4151376"/>
          </a:xfrm>
          <a:prstGeom prst="roundRect">
            <a:avLst/>
          </a:prstGeom>
          <a:solidFill>
            <a:srgbClr val="FF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9A3412"/>
                </a:solidFill>
                <a:latin typeface="Aptos Display"/>
              </a:rPr>
              <a:t>Not Ready For</a:t>
            </a:r>
          </a:p>
          <a:p>
            <a:pPr>
              <a:spcAft>
                <a:spcPts val="10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Clinical care, staffing commitments, reimbursement, or patient-level action</a:t>
            </a:r>
          </a:p>
          <a:p>
            <a:pPr>
              <a:spcAft>
                <a:spcPts val="10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Claims about Southlake's real patient mix or operational truth from a U.S. public-use source</a:t>
            </a:r>
          </a:p>
          <a:p>
            <a:pPr>
              <a:spcAft>
                <a:spcPts val="10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A full hospital digital twin or a validated multi-table operational model</a:t>
            </a:r>
          </a:p>
          <a:p>
            <a:pPr>
              <a:spcAft>
                <a:spcPts val="1000"/>
              </a:spcAft>
              <a:defRPr sz="1600">
                <a:solidFill>
                  <a:srgbClr val="102A43"/>
                </a:solidFill>
                <a:latin typeface="Aptos"/>
              </a:defRPr>
            </a:pPr>
            <a:r>
              <a:t>Production use without governance, privacy review, and validation on governed local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632704"/>
            <a:ext cx="10607040" cy="5303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Best next step: validate the workflow with governed Southlake data, operational owners, and formal privacy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7184"/>
                </a:solidFill>
                <a:latin typeface="Aptos"/>
              </a:rPr>
              <a:t>Credibility note: this caution slide is a strength. It shows the team understands healthcare risk and is not overselling the prototype.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