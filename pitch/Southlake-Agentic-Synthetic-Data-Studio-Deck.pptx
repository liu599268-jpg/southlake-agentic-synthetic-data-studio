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Oval 1"/>
          <p:cNvSpPr/>
          <p:nvPr/>
        </p:nvSpPr>
        <p:spPr>
          <a:xfrm>
            <a:off x="-411481" y="-502921"/>
            <a:ext cx="2651761" cy="2651762"/>
          </a:xfrm>
          <a:prstGeom prst="ellipse">
            <a:avLst/>
          </a:prstGeom>
          <a:solidFill>
            <a:srgbClr val="DFF8E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Oval 2"/>
          <p:cNvSpPr/>
          <p:nvPr/>
        </p:nvSpPr>
        <p:spPr>
          <a:xfrm>
            <a:off x="10241280" y="-365760"/>
            <a:ext cx="1920241" cy="1920240"/>
          </a:xfrm>
          <a:prstGeom prst="ellipse">
            <a:avLst/>
          </a:prstGeom>
          <a:solidFill>
            <a:srgbClr val="F2E7C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TextBox 3"/>
          <p:cNvSpPr txBox="1"/>
          <p:nvPr/>
        </p:nvSpPr>
        <p:spPr>
          <a:xfrm>
            <a:off x="704088" y="384047"/>
            <a:ext cx="4480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C82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METHODOLOGY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704088" y="658368"/>
            <a:ext cx="7955279" cy="828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102A43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From Public ED Data To Southlake Future-State Planning Scenarios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3503637" y="1407609"/>
            <a:ext cx="8393629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Agentic synthetic data workflow for distributed-health-network planning questions.</a:t>
            </a:r>
          </a:p>
        </p:txBody>
      </p:sp>
      <p:grpSp>
        <p:nvGrpSpPr>
          <p:cNvPr id="101" name="Rounded Rectangle 6"/>
          <p:cNvGrpSpPr/>
          <p:nvPr/>
        </p:nvGrpSpPr>
        <p:grpSpPr>
          <a:xfrm>
            <a:off x="10789919" y="384047"/>
            <a:ext cx="731521" cy="347474"/>
            <a:chOff x="0" y="0"/>
            <a:chExt cx="731519" cy="347472"/>
          </a:xfrm>
        </p:grpSpPr>
        <p:sp>
          <p:nvSpPr>
            <p:cNvPr id="99" name="Rounded Rectangle"/>
            <p:cNvSpPr/>
            <p:nvPr/>
          </p:nvSpPr>
          <p:spPr>
            <a:xfrm>
              <a:off x="0" y="0"/>
              <a:ext cx="731520" cy="347473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DCE3EA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/3"/>
            <p:cNvSpPr txBox="1"/>
            <p:nvPr/>
          </p:nvSpPr>
          <p:spPr>
            <a:xfrm>
              <a:off x="69031" y="45465"/>
              <a:ext cx="593458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100">
                  <a:solidFill>
                    <a:srgbClr val="5A7184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1/3</a:t>
              </a:r>
            </a:p>
          </p:txBody>
        </p:sp>
      </p:grpSp>
      <p:grpSp>
        <p:nvGrpSpPr>
          <p:cNvPr id="104" name="Rounded Rectangle 7"/>
          <p:cNvGrpSpPr/>
          <p:nvPr/>
        </p:nvGrpSpPr>
        <p:grpSpPr>
          <a:xfrm>
            <a:off x="448436" y="1507012"/>
            <a:ext cx="4192718" cy="2306252"/>
            <a:chOff x="0" y="0"/>
            <a:chExt cx="4192716" cy="2306250"/>
          </a:xfrm>
        </p:grpSpPr>
        <p:sp>
          <p:nvSpPr>
            <p:cNvPr id="102" name="Rounded Rectangle"/>
            <p:cNvSpPr/>
            <p:nvPr/>
          </p:nvSpPr>
          <p:spPr>
            <a:xfrm>
              <a:off x="0" y="379085"/>
              <a:ext cx="4192717" cy="154808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E4E9ED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1200"/>
                </a:spcBef>
                <a:defRPr b="1" sz="17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" name="Core Message…"/>
            <p:cNvSpPr txBox="1"/>
            <p:nvPr/>
          </p:nvSpPr>
          <p:spPr>
            <a:xfrm>
              <a:off x="128044" y="0"/>
              <a:ext cx="3936629" cy="23062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1100">
                  <a:solidFill>
                    <a:srgbClr val="0F7C82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Core Message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200"/>
                </a:spcBef>
                <a:defRPr b="1" sz="17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We turn safe public ED data into synthetic planning artifacts for Southlake's distributed-health-network questions, then make the limitations visible. Reasoning supported by TheFinlyApp — an agentic intelligence platform adapted for healthcare planning.</a:t>
              </a:r>
            </a:p>
          </p:txBody>
        </p:sp>
      </p:grpSp>
      <p:grpSp>
        <p:nvGrpSpPr>
          <p:cNvPr id="107" name="Rounded Rectangle 8"/>
          <p:cNvGrpSpPr/>
          <p:nvPr/>
        </p:nvGrpSpPr>
        <p:grpSpPr>
          <a:xfrm>
            <a:off x="566927" y="3833868"/>
            <a:ext cx="2029969" cy="1170433"/>
            <a:chOff x="0" y="0"/>
            <a:chExt cx="2029967" cy="1170432"/>
          </a:xfrm>
        </p:grpSpPr>
        <p:sp>
          <p:nvSpPr>
            <p:cNvPr id="105" name="Rounded Rectangle"/>
            <p:cNvSpPr/>
            <p:nvPr/>
          </p:nvSpPr>
          <p:spPr>
            <a:xfrm>
              <a:off x="0" y="0"/>
              <a:ext cx="2029968" cy="1170433"/>
            </a:xfrm>
            <a:prstGeom prst="roundRect">
              <a:avLst>
                <a:gd name="adj" fmla="val 16667"/>
              </a:avLst>
            </a:prstGeom>
            <a:solidFill>
              <a:srgbClr val="DFF8EC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" name="Input…"/>
            <p:cNvSpPr txBox="1"/>
            <p:nvPr/>
          </p:nvSpPr>
          <p:spPr>
            <a:xfrm>
              <a:off x="102855" y="183895"/>
              <a:ext cx="1824258" cy="802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200">
                  <a:solidFill>
                    <a:srgbClr val="096149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Input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Curated public ED dataset used as a safe planning stand-in.</a:t>
              </a:r>
            </a:p>
          </p:txBody>
        </p:sp>
      </p:grpSp>
      <p:grpSp>
        <p:nvGrpSpPr>
          <p:cNvPr id="110" name="Rounded Rectangle 9"/>
          <p:cNvGrpSpPr/>
          <p:nvPr/>
        </p:nvGrpSpPr>
        <p:grpSpPr>
          <a:xfrm>
            <a:off x="2697479" y="3833868"/>
            <a:ext cx="2029969" cy="1170433"/>
            <a:chOff x="0" y="0"/>
            <a:chExt cx="2029967" cy="1170432"/>
          </a:xfrm>
        </p:grpSpPr>
        <p:sp>
          <p:nvSpPr>
            <p:cNvPr id="108" name="Rounded Rectangle"/>
            <p:cNvSpPr/>
            <p:nvPr/>
          </p:nvSpPr>
          <p:spPr>
            <a:xfrm>
              <a:off x="0" y="0"/>
              <a:ext cx="2029968" cy="1170433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E4E9ED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" name="Agent Flow…"/>
            <p:cNvSpPr txBox="1"/>
            <p:nvPr/>
          </p:nvSpPr>
          <p:spPr>
            <a:xfrm>
              <a:off x="109205" y="183895"/>
              <a:ext cx="1811558" cy="802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2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Agent Flow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Goal framing -&gt; profile -&gt; plan -&gt; generate -&gt; evaluate -&gt; caution report.</a:t>
              </a:r>
            </a:p>
          </p:txBody>
        </p:sp>
      </p:grpSp>
      <p:grpSp>
        <p:nvGrpSpPr>
          <p:cNvPr id="113" name="Rounded Rectangle 10"/>
          <p:cNvGrpSpPr/>
          <p:nvPr/>
        </p:nvGrpSpPr>
        <p:grpSpPr>
          <a:xfrm>
            <a:off x="566927" y="5029200"/>
            <a:ext cx="2029969" cy="1170433"/>
            <a:chOff x="0" y="0"/>
            <a:chExt cx="2029967" cy="1170432"/>
          </a:xfrm>
        </p:grpSpPr>
        <p:sp>
          <p:nvSpPr>
            <p:cNvPr id="111" name="Rounded Rectangle"/>
            <p:cNvSpPr/>
            <p:nvPr/>
          </p:nvSpPr>
          <p:spPr>
            <a:xfrm>
              <a:off x="0" y="0"/>
              <a:ext cx="2029968" cy="1170433"/>
            </a:xfrm>
            <a:prstGeom prst="roundRect">
              <a:avLst>
                <a:gd name="adj" fmla="val 16667"/>
              </a:avLst>
            </a:prstGeom>
            <a:solidFill>
              <a:srgbClr val="F2E7CF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" name="Southlake Lens…"/>
            <p:cNvSpPr txBox="1"/>
            <p:nvPr/>
          </p:nvSpPr>
          <p:spPr>
            <a:xfrm>
              <a:off x="102855" y="101346"/>
              <a:ext cx="1824258" cy="967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200">
                  <a:solidFill>
                    <a:srgbClr val="7A520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Southlake Lens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Distributed campus routing, community diversion, growth, and surge scenarios.</a:t>
              </a:r>
            </a:p>
          </p:txBody>
        </p:sp>
      </p:grpSp>
      <p:grpSp>
        <p:nvGrpSpPr>
          <p:cNvPr id="116" name="Rounded Rectangle 11"/>
          <p:cNvGrpSpPr/>
          <p:nvPr/>
        </p:nvGrpSpPr>
        <p:grpSpPr>
          <a:xfrm>
            <a:off x="2697479" y="5029200"/>
            <a:ext cx="2029969" cy="1170433"/>
            <a:chOff x="0" y="0"/>
            <a:chExt cx="2029967" cy="1170432"/>
          </a:xfrm>
        </p:grpSpPr>
        <p:sp>
          <p:nvSpPr>
            <p:cNvPr id="114" name="Rounded Rectangle"/>
            <p:cNvSpPr/>
            <p:nvPr/>
          </p:nvSpPr>
          <p:spPr>
            <a:xfrm>
              <a:off x="0" y="0"/>
              <a:ext cx="2029968" cy="1170433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E4E9ED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" name="Outputs…"/>
            <p:cNvSpPr txBox="1"/>
            <p:nvPr/>
          </p:nvSpPr>
          <p:spPr>
            <a:xfrm>
              <a:off x="109205" y="101346"/>
              <a:ext cx="1811558" cy="967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2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Outputs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300"/>
                </a:spcBef>
                <a:defRPr sz="11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Synthetic dataset, metrics dashboard, caution summary, export ZIP, pitch artifacts.</a:t>
              </a:r>
            </a:p>
          </p:txBody>
        </p:sp>
      </p:grpSp>
      <p:sp>
        <p:nvSpPr>
          <p:cNvPr id="117" name="Rounded Rectangle 12"/>
          <p:cNvSpPr/>
          <p:nvPr/>
        </p:nvSpPr>
        <p:spPr>
          <a:xfrm>
            <a:off x="5010911" y="1847088"/>
            <a:ext cx="6629401" cy="4297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4E9ED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18" name="Picture 13" descr="Picture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085129" y="1785903"/>
            <a:ext cx="6480966" cy="364077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21" name="Rounded Rectangle 14"/>
          <p:cNvGrpSpPr/>
          <p:nvPr/>
        </p:nvGrpSpPr>
        <p:grpSpPr>
          <a:xfrm>
            <a:off x="5010911" y="5658103"/>
            <a:ext cx="6629401" cy="497841"/>
            <a:chOff x="0" y="0"/>
            <a:chExt cx="6629400" cy="497840"/>
          </a:xfrm>
        </p:grpSpPr>
        <p:sp>
          <p:nvSpPr>
            <p:cNvPr id="119" name="Rounded Rectangle"/>
            <p:cNvSpPr/>
            <p:nvPr/>
          </p:nvSpPr>
          <p:spPr>
            <a:xfrm>
              <a:off x="0" y="29463"/>
              <a:ext cx="6629400" cy="438914"/>
            </a:xfrm>
            <a:prstGeom prst="roundRect">
              <a:avLst>
                <a:gd name="adj" fmla="val 16667"/>
              </a:avLst>
            </a:prstGeom>
            <a:solidFill>
              <a:srgbClr val="1E293B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20" name="Planning questions: campus routing | observation demand | transfer pathways | closer-to-home care"/>
            <p:cNvSpPr txBox="1"/>
            <p:nvPr/>
          </p:nvSpPr>
          <p:spPr>
            <a:xfrm>
              <a:off x="67145" y="0"/>
              <a:ext cx="6495110" cy="4978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Planning questions: campus routing | observation demand | transfer pathways | closer-to-home care</a:t>
              </a:r>
            </a:p>
          </p:txBody>
        </p:sp>
      </p:grpSp>
      <p:sp>
        <p:nvSpPr>
          <p:cNvPr id="122" name="TextBox 15"/>
          <p:cNvSpPr txBox="1"/>
          <p:nvPr/>
        </p:nvSpPr>
        <p:spPr>
          <a:xfrm>
            <a:off x="704088" y="6419088"/>
            <a:ext cx="85953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Message for judges: the product is not only about generating rows; it is about making synthetic planning data usable and governed.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Oval 1"/>
          <p:cNvSpPr/>
          <p:nvPr/>
        </p:nvSpPr>
        <p:spPr>
          <a:xfrm>
            <a:off x="-411481" y="-502921"/>
            <a:ext cx="2651761" cy="2651762"/>
          </a:xfrm>
          <a:prstGeom prst="ellipse">
            <a:avLst/>
          </a:prstGeom>
          <a:solidFill>
            <a:srgbClr val="DFF8E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Oval 2"/>
          <p:cNvSpPr/>
          <p:nvPr/>
        </p:nvSpPr>
        <p:spPr>
          <a:xfrm>
            <a:off x="10241280" y="-365760"/>
            <a:ext cx="1920241" cy="1920240"/>
          </a:xfrm>
          <a:prstGeom prst="ellipse">
            <a:avLst/>
          </a:prstGeom>
          <a:solidFill>
            <a:srgbClr val="F2E7C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3"/>
          <p:cNvSpPr txBox="1"/>
          <p:nvPr/>
        </p:nvSpPr>
        <p:spPr>
          <a:xfrm>
            <a:off x="704088" y="384047"/>
            <a:ext cx="4480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C82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FEATURES</a:t>
            </a:r>
          </a:p>
        </p:txBody>
      </p:sp>
      <p:sp>
        <p:nvSpPr>
          <p:cNvPr id="127" name="TextBox 4"/>
          <p:cNvSpPr txBox="1"/>
          <p:nvPr/>
        </p:nvSpPr>
        <p:spPr>
          <a:xfrm>
            <a:off x="704088" y="658367"/>
            <a:ext cx="7955279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500">
                <a:solidFill>
                  <a:srgbClr val="102A43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What The Studio Actually Does</a:t>
            </a:r>
          </a:p>
        </p:txBody>
      </p:sp>
      <p:sp>
        <p:nvSpPr>
          <p:cNvPr id="128" name="TextBox 5"/>
          <p:cNvSpPr txBox="1"/>
          <p:nvPr/>
        </p:nvSpPr>
        <p:spPr>
          <a:xfrm>
            <a:off x="658367" y="1039876"/>
            <a:ext cx="804672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Visible evaluation, synthetic data output, and exportable artifacts — the studio shows its work at every step.</a:t>
            </a:r>
          </a:p>
        </p:txBody>
      </p:sp>
      <p:grpSp>
        <p:nvGrpSpPr>
          <p:cNvPr id="131" name="Rounded Rectangle 6"/>
          <p:cNvGrpSpPr/>
          <p:nvPr/>
        </p:nvGrpSpPr>
        <p:grpSpPr>
          <a:xfrm>
            <a:off x="10789919" y="384047"/>
            <a:ext cx="731521" cy="347474"/>
            <a:chOff x="0" y="0"/>
            <a:chExt cx="731519" cy="347472"/>
          </a:xfrm>
        </p:grpSpPr>
        <p:sp>
          <p:nvSpPr>
            <p:cNvPr id="129" name="Rounded Rectangle"/>
            <p:cNvSpPr/>
            <p:nvPr/>
          </p:nvSpPr>
          <p:spPr>
            <a:xfrm>
              <a:off x="0" y="0"/>
              <a:ext cx="731520" cy="347473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DCE3EA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30" name="2/3"/>
            <p:cNvSpPr txBox="1"/>
            <p:nvPr/>
          </p:nvSpPr>
          <p:spPr>
            <a:xfrm>
              <a:off x="69031" y="45465"/>
              <a:ext cx="593458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100">
                  <a:solidFill>
                    <a:srgbClr val="5A7184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2/3</a:t>
              </a:r>
            </a:p>
          </p:txBody>
        </p:sp>
      </p:grpSp>
      <p:sp>
        <p:nvSpPr>
          <p:cNvPr id="132" name="Rounded Rectangle 7"/>
          <p:cNvSpPr/>
          <p:nvPr/>
        </p:nvSpPr>
        <p:spPr>
          <a:xfrm>
            <a:off x="566927" y="1664207"/>
            <a:ext cx="6583682" cy="484632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4E9ED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3" name="TextBox 13"/>
          <p:cNvSpPr txBox="1"/>
          <p:nvPr/>
        </p:nvSpPr>
        <p:spPr>
          <a:xfrm>
            <a:off x="7452360" y="1755648"/>
            <a:ext cx="3474720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0F7C82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Feature Highlights</a:t>
            </a:r>
          </a:p>
        </p:txBody>
      </p:sp>
      <p:sp>
        <p:nvSpPr>
          <p:cNvPr id="134" name="TextBox 14"/>
          <p:cNvSpPr txBox="1"/>
          <p:nvPr/>
        </p:nvSpPr>
        <p:spPr>
          <a:xfrm>
            <a:off x="7768902" y="2068576"/>
            <a:ext cx="3657601" cy="275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1000"/>
              </a:spcBef>
              <a:defRPr sz="1400">
                <a:solidFill>
                  <a:srgbClr val="102A43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Per-column fidelity scoring — numeric and categorical columns evaluated separately with clear visual breakdown</a:t>
            </a:r>
          </a:p>
          <a:p>
            <a:pPr>
              <a:spcBef>
                <a:spcPts val="1000"/>
              </a:spcBef>
              <a:defRPr sz="1400">
                <a:solidFill>
                  <a:srgbClr val="102A43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Source-vs-synthetic distribution charts show how well the generated data preserves real ED patterns</a:t>
            </a:r>
          </a:p>
          <a:p>
            <a:pPr>
              <a:spcBef>
                <a:spcPts val="1000"/>
              </a:spcBef>
              <a:defRPr sz="1400">
                <a:solidFill>
                  <a:srgbClr val="102A43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Side-by-side data preview lets planners compare source and synthetic rows directly</a:t>
            </a:r>
          </a:p>
          <a:p>
            <a:pPr>
              <a:spcBef>
                <a:spcPts val="1000"/>
              </a:spcBef>
              <a:defRPr sz="1400">
                <a:solidFill>
                  <a:srgbClr val="102A43"/>
                </a:solidFill>
                <a:latin typeface="Aptos"/>
                <a:ea typeface="Aptos"/>
                <a:cs typeface="Aptos"/>
                <a:sym typeface="Aptos"/>
              </a:defRPr>
            </a:pPr>
            <a:r>
              <a:t>Exportable evaluation package — synthetic dataset, metrics, caution report, and pitch artifacts in one ZIP</a:t>
            </a:r>
          </a:p>
        </p:txBody>
      </p:sp>
      <p:grpSp>
        <p:nvGrpSpPr>
          <p:cNvPr id="137" name="Rounded Rectangle 15"/>
          <p:cNvGrpSpPr/>
          <p:nvPr/>
        </p:nvGrpSpPr>
        <p:grpSpPr>
          <a:xfrm>
            <a:off x="7768902" y="4926838"/>
            <a:ext cx="3657601" cy="1389889"/>
            <a:chOff x="0" y="0"/>
            <a:chExt cx="3657600" cy="1389888"/>
          </a:xfrm>
        </p:grpSpPr>
        <p:sp>
          <p:nvSpPr>
            <p:cNvPr id="135" name="Rounded Rectangle"/>
            <p:cNvSpPr/>
            <p:nvPr/>
          </p:nvSpPr>
          <p:spPr>
            <a:xfrm>
              <a:off x="0" y="0"/>
              <a:ext cx="3657600" cy="1389889"/>
            </a:xfrm>
            <a:prstGeom prst="roundRect">
              <a:avLst>
                <a:gd name="adj" fmla="val 16667"/>
              </a:avLst>
            </a:prstGeom>
            <a:solidFill>
              <a:srgbClr val="1E293B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" name="Primary saved run…"/>
            <p:cNvSpPr txBox="1"/>
            <p:nvPr/>
          </p:nvSpPr>
          <p:spPr>
            <a:xfrm>
              <a:off x="113568" y="67848"/>
              <a:ext cx="3430464" cy="1018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algn="ctr">
                <a:defRPr b="1" sz="1100">
                  <a:solidFill>
                    <a:srgbClr val="AEEFD7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Primary saved run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600"/>
                </a:spcBef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Distributed Campus Routing | run f24271e772</a:t>
              </a:r>
            </a:p>
            <a:p>
              <a: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Fidelity 87.8   Privacy 100.0   Utility 92.7</a:t>
              </a:r>
            </a:p>
          </p:txBody>
        </p:sp>
      </p:grpSp>
      <p:sp>
        <p:nvSpPr>
          <p:cNvPr id="138" name="TextBox 16"/>
          <p:cNvSpPr txBox="1"/>
          <p:nvPr/>
        </p:nvSpPr>
        <p:spPr>
          <a:xfrm>
            <a:off x="704088" y="6419088"/>
            <a:ext cx="85953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Pitch note: judges can see both the data product and the explanation product, with a reliable saved-run path if live generation is slow.</a:t>
            </a:r>
          </a:p>
        </p:txBody>
      </p:sp>
      <p:grpSp>
        <p:nvGrpSpPr>
          <p:cNvPr id="141" name="Image Gallery"/>
          <p:cNvGrpSpPr/>
          <p:nvPr/>
        </p:nvGrpSpPr>
        <p:grpSpPr>
          <a:xfrm>
            <a:off x="421132" y="1793969"/>
            <a:ext cx="6875272" cy="4332798"/>
            <a:chOff x="0" y="0"/>
            <a:chExt cx="6875271" cy="4332796"/>
          </a:xfrm>
        </p:grpSpPr>
        <p:pic>
          <p:nvPicPr>
            <p:cNvPr id="139" name="Screenshot 2026-03-17 at 12.36.08 AM.png" descr="Screenshot 2026-03-17 at 12.36.08 AM.png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1016" t="0" r="1016" b="0"/>
            <a:stretch>
              <a:fillRect/>
            </a:stretch>
          </p:blipFill>
          <p:spPr>
            <a:xfrm>
              <a:off x="0" y="0"/>
              <a:ext cx="6875272" cy="386255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40" name="Caption"/>
            <p:cNvSpPr/>
            <p:nvPr/>
          </p:nvSpPr>
          <p:spPr>
            <a:xfrm>
              <a:off x="0" y="3938749"/>
              <a:ext cx="6875272" cy="39404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76200" tIns="76200" rIns="76200" bIns="76200" numCol="1" anchor="t">
              <a:noAutofit/>
            </a:bodyPr>
            <a:lstStyle/>
            <a:p>
              <a:pPr/>
              <a:r>
                <a:t>Caption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4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Oval 1"/>
          <p:cNvSpPr/>
          <p:nvPr/>
        </p:nvSpPr>
        <p:spPr>
          <a:xfrm>
            <a:off x="-411481" y="-502921"/>
            <a:ext cx="2651761" cy="2651762"/>
          </a:xfrm>
          <a:prstGeom prst="ellipse">
            <a:avLst/>
          </a:prstGeom>
          <a:solidFill>
            <a:srgbClr val="DFF8E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Oval 2"/>
          <p:cNvSpPr/>
          <p:nvPr/>
        </p:nvSpPr>
        <p:spPr>
          <a:xfrm>
            <a:off x="10241280" y="-365760"/>
            <a:ext cx="1920241" cy="1920240"/>
          </a:xfrm>
          <a:prstGeom prst="ellipse">
            <a:avLst/>
          </a:prstGeom>
          <a:solidFill>
            <a:srgbClr val="F2E7C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5" name="TextBox 3"/>
          <p:cNvSpPr txBox="1"/>
          <p:nvPr/>
        </p:nvSpPr>
        <p:spPr>
          <a:xfrm>
            <a:off x="704088" y="384047"/>
            <a:ext cx="448056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C82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CAUTIONS</a:t>
            </a:r>
          </a:p>
        </p:txBody>
      </p:sp>
      <p:sp>
        <p:nvSpPr>
          <p:cNvPr id="146" name="TextBox 4"/>
          <p:cNvSpPr txBox="1"/>
          <p:nvPr/>
        </p:nvSpPr>
        <p:spPr>
          <a:xfrm>
            <a:off x="704088" y="658368"/>
            <a:ext cx="7955279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102A43"/>
                </a:solidFill>
                <a:latin typeface="Aptos Display"/>
                <a:ea typeface="Aptos Display"/>
                <a:cs typeface="Aptos Display"/>
                <a:sym typeface="Aptos Display"/>
              </a:defRPr>
            </a:lvl1pPr>
          </a:lstStyle>
          <a:p>
            <a:pPr/>
            <a:r>
              <a:t>What The Studio Is Safe For, And What It Is Not</a:t>
            </a:r>
          </a:p>
        </p:txBody>
      </p:sp>
      <p:sp>
        <p:nvSpPr>
          <p:cNvPr id="147" name="TextBox 5"/>
          <p:cNvSpPr txBox="1"/>
          <p:nvPr/>
        </p:nvSpPr>
        <p:spPr>
          <a:xfrm>
            <a:off x="704088" y="1609344"/>
            <a:ext cx="804672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Synthetic data is useful for planning and experimentation, but it is not local operational truth.</a:t>
            </a:r>
          </a:p>
        </p:txBody>
      </p:sp>
      <p:grpSp>
        <p:nvGrpSpPr>
          <p:cNvPr id="150" name="Rounded Rectangle 6"/>
          <p:cNvGrpSpPr/>
          <p:nvPr/>
        </p:nvGrpSpPr>
        <p:grpSpPr>
          <a:xfrm>
            <a:off x="10789919" y="384047"/>
            <a:ext cx="731521" cy="347474"/>
            <a:chOff x="0" y="0"/>
            <a:chExt cx="731519" cy="347472"/>
          </a:xfrm>
        </p:grpSpPr>
        <p:sp>
          <p:nvSpPr>
            <p:cNvPr id="148" name="Rounded Rectangle"/>
            <p:cNvSpPr/>
            <p:nvPr/>
          </p:nvSpPr>
          <p:spPr>
            <a:xfrm>
              <a:off x="0" y="0"/>
              <a:ext cx="731520" cy="347473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solidFill>
                <a:srgbClr val="DCE3EA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9" name="3/3"/>
            <p:cNvSpPr txBox="1"/>
            <p:nvPr/>
          </p:nvSpPr>
          <p:spPr>
            <a:xfrm>
              <a:off x="69031" y="45465"/>
              <a:ext cx="593458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100">
                  <a:solidFill>
                    <a:srgbClr val="5A7184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3/3</a:t>
              </a:r>
            </a:p>
          </p:txBody>
        </p:sp>
      </p:grpSp>
      <p:grpSp>
        <p:nvGrpSpPr>
          <p:cNvPr id="153" name="Rounded Rectangle 7"/>
          <p:cNvGrpSpPr/>
          <p:nvPr/>
        </p:nvGrpSpPr>
        <p:grpSpPr>
          <a:xfrm>
            <a:off x="566927" y="1993392"/>
            <a:ext cx="5358386" cy="4151377"/>
            <a:chOff x="0" y="0"/>
            <a:chExt cx="5358384" cy="4151376"/>
          </a:xfrm>
        </p:grpSpPr>
        <p:sp>
          <p:nvSpPr>
            <p:cNvPr id="151" name="Rounded Rectangle"/>
            <p:cNvSpPr/>
            <p:nvPr/>
          </p:nvSpPr>
          <p:spPr>
            <a:xfrm>
              <a:off x="0" y="0"/>
              <a:ext cx="5358385" cy="4151377"/>
            </a:xfrm>
            <a:prstGeom prst="roundRect">
              <a:avLst>
                <a:gd name="adj" fmla="val 16667"/>
              </a:avLst>
            </a:prstGeom>
            <a:solidFill>
              <a:srgbClr val="DFF8EC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" name="Good For…"/>
            <p:cNvSpPr txBox="1"/>
            <p:nvPr/>
          </p:nvSpPr>
          <p:spPr>
            <a:xfrm>
              <a:off x="248373" y="810768"/>
              <a:ext cx="4861638" cy="2529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2400">
                  <a:solidFill>
                    <a:srgbClr val="096149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  <a:r>
                <a:t>Good For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Planning, innovation, and prototyping conversations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Scenario workshops about distributed-campus routing and community diversion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Testing dashboards, workflows, and early-stage analytics without real patient records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Pitch-day storytelling backed by metrics, cautions, and exportable artifacts</a:t>
              </a:r>
            </a:p>
          </p:txBody>
        </p:sp>
      </p:grpSp>
      <p:grpSp>
        <p:nvGrpSpPr>
          <p:cNvPr id="156" name="Rounded Rectangle 8"/>
          <p:cNvGrpSpPr/>
          <p:nvPr/>
        </p:nvGrpSpPr>
        <p:grpSpPr>
          <a:xfrm>
            <a:off x="6144767" y="1993392"/>
            <a:ext cx="5468113" cy="4151377"/>
            <a:chOff x="0" y="0"/>
            <a:chExt cx="5468111" cy="4151376"/>
          </a:xfrm>
        </p:grpSpPr>
        <p:sp>
          <p:nvSpPr>
            <p:cNvPr id="154" name="Rounded Rectangle"/>
            <p:cNvSpPr/>
            <p:nvPr/>
          </p:nvSpPr>
          <p:spPr>
            <a:xfrm>
              <a:off x="0" y="0"/>
              <a:ext cx="5468112" cy="4151377"/>
            </a:xfrm>
            <a:prstGeom prst="roundRect">
              <a:avLst>
                <a:gd name="adj" fmla="val 16667"/>
              </a:avLst>
            </a:prstGeom>
            <a:solidFill>
              <a:srgbClr val="FFEFE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5" name="Not Ready For…"/>
            <p:cNvSpPr txBox="1"/>
            <p:nvPr/>
          </p:nvSpPr>
          <p:spPr>
            <a:xfrm>
              <a:off x="248372" y="690118"/>
              <a:ext cx="4971368" cy="2771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2400">
                  <a:solidFill>
                    <a:srgbClr val="9A3412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  <a:r>
                <a:t>Not Ready For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Clinical care, staffing commitments, reimbursement, or patient-level action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Claims about Southlake's real patient mix or operational truth from a U.S. public-use source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A full hospital digital twin or a validated multi-table operational model</a:t>
              </a:r>
            </a:p>
            <a:p>
              <a:pPr>
                <a:spcBef>
                  <a:spcPts val="1000"/>
                </a:spcBef>
                <a:defRPr sz="1600">
                  <a:solidFill>
                    <a:srgbClr val="102A43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Production use without governance, privacy review, and validation on governed local data</a:t>
              </a:r>
            </a:p>
          </p:txBody>
        </p:sp>
      </p:grpSp>
      <p:grpSp>
        <p:nvGrpSpPr>
          <p:cNvPr id="159" name="Rounded Rectangle 9"/>
          <p:cNvGrpSpPr/>
          <p:nvPr/>
        </p:nvGrpSpPr>
        <p:grpSpPr>
          <a:xfrm>
            <a:off x="841247" y="5632703"/>
            <a:ext cx="10607042" cy="530353"/>
            <a:chOff x="0" y="0"/>
            <a:chExt cx="10607040" cy="530351"/>
          </a:xfrm>
        </p:grpSpPr>
        <p:sp>
          <p:nvSpPr>
            <p:cNvPr id="157" name="Rounded Rectangle"/>
            <p:cNvSpPr/>
            <p:nvPr/>
          </p:nvSpPr>
          <p:spPr>
            <a:xfrm>
              <a:off x="0" y="0"/>
              <a:ext cx="10607041" cy="530352"/>
            </a:xfrm>
            <a:prstGeom prst="roundRect">
              <a:avLst>
                <a:gd name="adj" fmla="val 16667"/>
              </a:avLst>
            </a:prstGeom>
            <a:solidFill>
              <a:srgbClr val="1E293B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8" name="Best next step: validate the workflow with governed Southlake data, operational owners, and formal privacy review."/>
            <p:cNvSpPr txBox="1"/>
            <p:nvPr/>
          </p:nvSpPr>
          <p:spPr>
            <a:xfrm>
              <a:off x="71609" y="111506"/>
              <a:ext cx="10463822" cy="3073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4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Best next step: validate the workflow with governed Southlake data, operational owners, and formal privacy review.</a:t>
              </a:r>
            </a:p>
          </p:txBody>
        </p:sp>
      </p:grpSp>
      <p:sp>
        <p:nvSpPr>
          <p:cNvPr id="160" name="TextBox 10"/>
          <p:cNvSpPr txBox="1"/>
          <p:nvPr/>
        </p:nvSpPr>
        <p:spPr>
          <a:xfrm>
            <a:off x="704088" y="6419088"/>
            <a:ext cx="85953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5A7184"/>
                </a:solidFill>
                <a:latin typeface="Aptos"/>
                <a:ea typeface="Aptos"/>
                <a:cs typeface="Aptos"/>
                <a:sym typeface="Aptos"/>
              </a:defRPr>
            </a:lvl1pPr>
          </a:lstStyle>
          <a:p>
            <a:pPr/>
            <a:r>
              <a:t>Credibility note: this caution slide is a strength. It shows the team understands healthcare risk and is not overselling the prototype.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